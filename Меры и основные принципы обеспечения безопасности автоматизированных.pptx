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909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027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97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69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60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17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4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732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47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552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6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4DF97-4263-4A12-BFDD-90878C2960A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149DA-B095-4A6B-BD3D-0F945822BD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6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3100" b="1" dirty="0"/>
              <a:t>«Меры и основные принципы обеспечения безопасности автоматизированных систем»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Выполнил:</a:t>
            </a:r>
          </a:p>
          <a:p>
            <a:pPr algn="r"/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Студентка 1 курса</a:t>
            </a:r>
          </a:p>
          <a:p>
            <a:pPr algn="r"/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Группы ИБ</a:t>
            </a:r>
          </a:p>
          <a:p>
            <a:pPr algn="r"/>
            <a:r>
              <a:rPr lang="ru-RU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Киздермишова</a:t>
            </a:r>
            <a:r>
              <a:rPr lang="ru-RU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Д. А.</a:t>
            </a:r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872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1196752"/>
            <a:ext cx="7344816" cy="4525963"/>
          </a:xfrm>
        </p:spPr>
        <p:txBody>
          <a:bodyPr>
            <a:noAutofit/>
          </a:bodyPr>
          <a:lstStyle/>
          <a:p>
            <a:pPr marL="0" indent="541338" algn="just">
              <a:buNone/>
            </a:pPr>
            <a:r>
              <a:rPr lang="ru-RU" sz="1800" dirty="0" smtClean="0"/>
              <a:t>В условиях стремительной </a:t>
            </a:r>
            <a:r>
              <a:rPr lang="ru-RU" sz="1800" dirty="0" err="1" smtClean="0"/>
              <a:t>цифровизации</a:t>
            </a:r>
            <a:r>
              <a:rPr lang="ru-RU" sz="1800" dirty="0" smtClean="0"/>
              <a:t> вопросы обеспечения безопасности автоматизированных систем (АС) приобретают особую значимость. АС активно используются в государственном управлении, финансовом секторе, здравоохранении, промышленности и других критически важных областях. Утечка, искажение или утрата информации может привести к серьёзным экономическим, </a:t>
            </a:r>
            <a:r>
              <a:rPr lang="ru-RU" sz="1800" dirty="0" err="1" smtClean="0"/>
              <a:t>репутационным</a:t>
            </a:r>
            <a:r>
              <a:rPr lang="ru-RU" sz="1800" dirty="0" smtClean="0"/>
              <a:t> и социальным последствиям.</a:t>
            </a:r>
          </a:p>
          <a:p>
            <a:pPr marL="0" indent="541338" algn="just">
              <a:buNone/>
            </a:pPr>
            <a:r>
              <a:rPr lang="ru-RU" sz="1800" dirty="0" smtClean="0"/>
              <a:t>Рост числа </a:t>
            </a:r>
            <a:r>
              <a:rPr lang="ru-RU" sz="1800" dirty="0" err="1" smtClean="0"/>
              <a:t>киберугроз</a:t>
            </a:r>
            <a:r>
              <a:rPr lang="ru-RU" sz="1800" dirty="0" smtClean="0"/>
              <a:t> и совершенствование методов атак требуют создания многоуровневых систем защиты — с учётом специфики конкретной АС и актуальных угроз.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52391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1124744"/>
            <a:ext cx="7488832" cy="4525963"/>
          </a:xfrm>
        </p:spPr>
        <p:txBody>
          <a:bodyPr>
            <a:normAutofit/>
          </a:bodyPr>
          <a:lstStyle/>
          <a:p>
            <a:pPr marL="0" indent="541338" algn="just">
              <a:buNone/>
            </a:pPr>
            <a:r>
              <a:rPr lang="ru-RU" sz="1800" dirty="0"/>
              <a:t>Цель исследования – комплексный теоретический анализ видов мер противодействия угрозам безопасности и изучение основополагающих принципов построения систем обеспечения безопасности информации в автоматизированных системах</a:t>
            </a:r>
            <a:r>
              <a:rPr lang="ru-RU" sz="1800" dirty="0" smtClean="0"/>
              <a:t>.</a:t>
            </a:r>
          </a:p>
          <a:p>
            <a:pPr marL="0" indent="541338" algn="just">
              <a:buNone/>
            </a:pPr>
            <a:r>
              <a:rPr lang="ru-RU" sz="1800" dirty="0"/>
              <a:t>Объект исследования – автоматизированные системы обработки информации различного назначения.</a:t>
            </a:r>
          </a:p>
          <a:p>
            <a:pPr marL="0" indent="541338" algn="just">
              <a:buNone/>
            </a:pPr>
            <a:r>
              <a:rPr lang="ru-RU" sz="1800" dirty="0"/>
              <a:t>Предмет исследования – совокупность мер защиты (правовых, организационных, технических и др.) и организационно-технических принципов, направленных на обеспечение информационной безопасности автоматизированных систем.</a:t>
            </a:r>
          </a:p>
          <a:p>
            <a:pPr marL="0" indent="541338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9328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1052736"/>
            <a:ext cx="7488832" cy="4525963"/>
          </a:xfrm>
        </p:spPr>
        <p:txBody>
          <a:bodyPr>
            <a:normAutofit/>
          </a:bodyPr>
          <a:lstStyle/>
          <a:p>
            <a:pPr marL="0" indent="541338">
              <a:buNone/>
            </a:pPr>
            <a:r>
              <a:rPr lang="ru-RU" sz="1800" dirty="0" smtClean="0"/>
              <a:t>Для достижения поставленной цели необходимо решить следующие задачи:</a:t>
            </a:r>
          </a:p>
          <a:p>
            <a:pPr marL="0" indent="541338">
              <a:buNone/>
            </a:pPr>
            <a:r>
              <a:rPr lang="ru-RU" sz="1800" dirty="0" smtClean="0"/>
              <a:t>–	рассмотреть виды мер противодействия угрозам безопасности информации в автоматизированных системах;</a:t>
            </a:r>
          </a:p>
          <a:p>
            <a:pPr marL="0" indent="541338">
              <a:buNone/>
            </a:pPr>
            <a:r>
              <a:rPr lang="ru-RU" sz="1800" dirty="0" smtClean="0"/>
              <a:t>–	проанализировать ключевые принципы построения системы обеспечения безопасности информации и их роль в создании надёжной защиты;</a:t>
            </a:r>
          </a:p>
          <a:p>
            <a:pPr marL="0" indent="541338">
              <a:buNone/>
            </a:pPr>
            <a:r>
              <a:rPr lang="ru-RU" sz="1800" dirty="0" smtClean="0"/>
              <a:t>–	обосновать необходимость применения системного и комплексного подходов к защите АС на всех этапах их жизненного цикла;</a:t>
            </a:r>
          </a:p>
          <a:p>
            <a:pPr marL="0" indent="541338">
              <a:buNone/>
            </a:pPr>
            <a:r>
              <a:rPr lang="ru-RU" sz="1800" dirty="0" smtClean="0"/>
              <a:t>–	выявить сильные и слабые стороны различных мер защиты, оценить их применимость в зависимости от типа АС и характера угроз.</a:t>
            </a:r>
          </a:p>
          <a:p>
            <a:pPr marL="0" indent="541338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921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764704"/>
            <a:ext cx="7776864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0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ru-RU" sz="2400" b="1" dirty="0"/>
              <a:t>Законодательные (Правовые) меры</a:t>
            </a:r>
            <a:r>
              <a:rPr lang="ru-RU" sz="2400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1600200"/>
            <a:ext cx="7128792" cy="4525963"/>
          </a:xfrm>
        </p:spPr>
        <p:txBody>
          <a:bodyPr>
            <a:normAutofit/>
          </a:bodyPr>
          <a:lstStyle/>
          <a:p>
            <a:pPr marL="0" indent="541338">
              <a:buNone/>
            </a:pPr>
            <a:r>
              <a:rPr lang="ru-RU" sz="2000" dirty="0" smtClean="0"/>
              <a:t>Включают </a:t>
            </a:r>
            <a:r>
              <a:rPr lang="ru-RU" sz="2000" dirty="0"/>
              <a:t>в себя указы, постановления, законы, руководящие документы и другие нормативно-правовые акты, которые определяют нормы обращения с информацией, права и обязанности участников информационных отношений и устанавливают ответственность за несоблюдение данных норм</a:t>
            </a:r>
            <a:r>
              <a:rPr lang="ru-RU" sz="2000" dirty="0" smtClean="0"/>
              <a:t>.</a:t>
            </a:r>
          </a:p>
          <a:p>
            <a:pPr marL="0" indent="541338">
              <a:buNone/>
            </a:pPr>
            <a:r>
              <a:rPr lang="ru-RU" sz="2000" dirty="0" smtClean="0"/>
              <a:t>Плюсы: высшая юридическая сила, основа для привлечения к ответственности, единые отраслевые стандарты.</a:t>
            </a:r>
          </a:p>
          <a:p>
            <a:pPr marL="0" indent="541338">
              <a:buNone/>
            </a:pPr>
            <a:r>
              <a:rPr lang="ru-RU" sz="2000" dirty="0" smtClean="0"/>
              <a:t>Минусы: отстают от развития технологий, не могут остановить атаку в реальном времени.</a:t>
            </a:r>
          </a:p>
          <a:p>
            <a:pPr marL="0" indent="541338">
              <a:buNone/>
            </a:pPr>
            <a:endParaRPr lang="ru-RU" sz="2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248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ru-RU" sz="2400" b="1" dirty="0"/>
              <a:t>Законодательные (Правовые) меры</a:t>
            </a:r>
            <a:r>
              <a:rPr lang="ru-RU" sz="2400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1600200"/>
            <a:ext cx="7128792" cy="4525963"/>
          </a:xfrm>
        </p:spPr>
        <p:txBody>
          <a:bodyPr>
            <a:normAutofit lnSpcReduction="10000"/>
          </a:bodyPr>
          <a:lstStyle/>
          <a:p>
            <a:pPr marL="0" indent="541338">
              <a:buNone/>
            </a:pPr>
            <a:r>
              <a:rPr lang="ru-RU" sz="2000" dirty="0" smtClean="0"/>
              <a:t>Некоторые ключевые законодательные акты в России:</a:t>
            </a:r>
          </a:p>
          <a:p>
            <a:pPr marL="0" indent="541338">
              <a:buNone/>
            </a:pPr>
            <a:r>
              <a:rPr lang="ru-RU" sz="2000" dirty="0" smtClean="0"/>
              <a:t>–	Конституция Российской Федерации </a:t>
            </a:r>
          </a:p>
          <a:p>
            <a:pPr marL="0" indent="541338">
              <a:buNone/>
            </a:pPr>
            <a:r>
              <a:rPr lang="ru-RU" sz="2000" dirty="0" smtClean="0"/>
              <a:t>–	Федеральный закон от 27.07.2006, г., № 149-ФЗ «Об информации, информационных технологиях и о защите информации» </a:t>
            </a:r>
          </a:p>
          <a:p>
            <a:pPr marL="0" indent="541338">
              <a:buNone/>
            </a:pPr>
            <a:r>
              <a:rPr lang="ru-RU" sz="2000" dirty="0" smtClean="0"/>
              <a:t>–	Федеральный закон от 27 июля 2006 г. №152-ФЗ «О персональных данных».</a:t>
            </a:r>
          </a:p>
          <a:p>
            <a:pPr marL="0" indent="541338">
              <a:buNone/>
            </a:pPr>
            <a:r>
              <a:rPr lang="ru-RU" sz="2000" dirty="0" smtClean="0"/>
              <a:t>–	Федеральный закон от 29 июля 2004 г. №98-ФЗ «О коммерческой тайне».</a:t>
            </a:r>
          </a:p>
          <a:p>
            <a:pPr marL="0" indent="541338">
              <a:buNone/>
            </a:pPr>
            <a:r>
              <a:rPr lang="ru-RU" sz="2000" dirty="0" smtClean="0"/>
              <a:t>–	Федеральный закон от 6 апреля 2011 г. № 63-ФЗ «Об электронной подписи».</a:t>
            </a:r>
          </a:p>
          <a:p>
            <a:pPr marL="0" indent="541338">
              <a:buNone/>
            </a:pPr>
            <a:r>
              <a:rPr lang="ru-RU" sz="2000" dirty="0" smtClean="0"/>
              <a:t>–	Федеральный закон от 26 июля 2017 г. № 187-ФЗ "О безопасности критической информационной инфраструктуры Российской Федерации"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0465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Морально-этические меры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1600200"/>
            <a:ext cx="7128792" cy="4525963"/>
          </a:xfrm>
        </p:spPr>
        <p:txBody>
          <a:bodyPr>
            <a:normAutofit/>
          </a:bodyPr>
          <a:lstStyle/>
          <a:p>
            <a:pPr marL="0" indent="541338">
              <a:buNone/>
            </a:pPr>
            <a:r>
              <a:rPr lang="ru-RU" sz="2000" dirty="0"/>
              <a:t>П</a:t>
            </a:r>
            <a:r>
              <a:rPr lang="ru-RU" sz="2000" dirty="0" smtClean="0"/>
              <a:t>редполагают соблюдение норм поведения, которые традиционно сложились или складываются по мере распространения информационных технологий в обществе. Эти нормы большей частью не являются обязательными, как требования нормативных актов, однако, их несоблюдение ведёт обычно к падению авторитета или престижа человека, группы лиц или организации. </a:t>
            </a:r>
          </a:p>
          <a:p>
            <a:pPr marL="0" indent="541338">
              <a:buNone/>
            </a:pPr>
            <a:r>
              <a:rPr lang="ru-RU" sz="2000" dirty="0" smtClean="0"/>
              <a:t>Плюсы: формируют внутренние барьеры против нарушений, снижают потребность в тотальном контроле, не требуют затрат.</a:t>
            </a:r>
          </a:p>
          <a:p>
            <a:pPr marL="0" indent="541338">
              <a:buNone/>
            </a:pPr>
            <a:r>
              <a:rPr lang="ru-RU" sz="2000" dirty="0" smtClean="0"/>
              <a:t>Минусы: рекомендательный характер, зависят от личных качеств сотрудников.</a:t>
            </a:r>
          </a:p>
          <a:p>
            <a:pPr marL="0" indent="541338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16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Организационные меры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1600200"/>
            <a:ext cx="7128792" cy="4525963"/>
          </a:xfrm>
        </p:spPr>
        <p:txBody>
          <a:bodyPr>
            <a:normAutofit/>
          </a:bodyPr>
          <a:lstStyle/>
          <a:p>
            <a:pPr marL="0" indent="541338">
              <a:buNone/>
            </a:pPr>
            <a:r>
              <a:rPr lang="ru-RU" sz="2000" dirty="0" smtClean="0"/>
              <a:t>Меры административного характера, которые устанавливают правила функционирования системы обработки данных и деятельности обслуживающего персонала, а также порядок их взаимодействия для снижения вероятности осуществления угроз безопасности или потерь в случае их реализации.</a:t>
            </a:r>
            <a:r>
              <a:rPr lang="en-US" sz="2000" dirty="0" smtClean="0"/>
              <a:t> </a:t>
            </a:r>
          </a:p>
          <a:p>
            <a:pPr marL="0" indent="541338">
              <a:buNone/>
            </a:pPr>
            <a:r>
              <a:rPr lang="ru-RU" sz="2000" dirty="0" smtClean="0"/>
              <a:t>Плюсы: нейтрализуют «человеческий фактор», объединяют элементы защиты в систему, помогают выявлять внутренних нарушителей.</a:t>
            </a:r>
          </a:p>
          <a:p>
            <a:pPr marL="0" indent="541338">
              <a:buNone/>
            </a:pPr>
            <a:r>
              <a:rPr lang="ru-RU" sz="2000" dirty="0" smtClean="0"/>
              <a:t>Минусы: бюрократизация процессов, теряют эффективность без жёсткого контроля.</a:t>
            </a:r>
            <a:endParaRPr lang="en-US" sz="2000" dirty="0" smtClean="0"/>
          </a:p>
          <a:p>
            <a:pPr marL="0" indent="541338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115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Технологические меры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1600200"/>
            <a:ext cx="7128792" cy="4525963"/>
          </a:xfrm>
        </p:spPr>
        <p:txBody>
          <a:bodyPr>
            <a:normAutofit/>
          </a:bodyPr>
          <a:lstStyle/>
          <a:p>
            <a:pPr marL="0" indent="541338">
              <a:buNone/>
            </a:pPr>
            <a:r>
              <a:rPr lang="ru-RU" sz="2000" dirty="0"/>
              <a:t>П</a:t>
            </a:r>
            <a:r>
              <a:rPr lang="ru-RU" sz="2000" dirty="0" smtClean="0"/>
              <a:t>редусматривают такие технологические решения и приемы, которые основаны на принципе избыточности (структурной, функциональной, информационной, временной и т. п.) и направлены на уменьшение возможности совершения сотрудниками ошибок и нарушений в рамках мандатного доступа.</a:t>
            </a:r>
            <a:r>
              <a:rPr lang="en-US" sz="2000" dirty="0" smtClean="0"/>
              <a:t> </a:t>
            </a:r>
          </a:p>
          <a:p>
            <a:pPr marL="0" indent="541338">
              <a:buNone/>
            </a:pPr>
            <a:r>
              <a:rPr lang="ru-RU" sz="2000" dirty="0" smtClean="0"/>
              <a:t>Плюсы: автоматическая работа без участия человека, жёсткий контроль данных на всех этапах обработки.</a:t>
            </a:r>
          </a:p>
          <a:p>
            <a:pPr marL="0" indent="541338">
              <a:buNone/>
            </a:pPr>
            <a:r>
              <a:rPr lang="ru-RU" sz="2000" dirty="0" smtClean="0"/>
              <a:t>Минусы: требуют сложного проектирования на ранних стадиях, снижают гибкость процессов.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70676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Физические меры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1600200"/>
            <a:ext cx="7128792" cy="4525963"/>
          </a:xfrm>
        </p:spPr>
        <p:txBody>
          <a:bodyPr>
            <a:normAutofit/>
          </a:bodyPr>
          <a:lstStyle/>
          <a:p>
            <a:pPr marL="0" indent="541338">
              <a:buNone/>
            </a:pPr>
            <a:r>
              <a:rPr lang="ru-RU" sz="2000" dirty="0" smtClean="0"/>
              <a:t>Под ними понимают физические препятствия на возможных путях проникновения потенциальных нарушителей к компонентам системы. </a:t>
            </a:r>
          </a:p>
          <a:p>
            <a:pPr marL="0" indent="541338">
              <a:buNone/>
            </a:pPr>
            <a:r>
              <a:rPr lang="ru-RU" sz="2000" dirty="0"/>
              <a:t>Плюсы: барьер против хищения оборудования, защита от аварий (пожаров, затоплений), психологическое отпугивание нарушителей.</a:t>
            </a:r>
          </a:p>
          <a:p>
            <a:pPr marL="0" indent="541338">
              <a:buNone/>
            </a:pPr>
            <a:r>
              <a:rPr lang="ru-RU" sz="2000" dirty="0"/>
              <a:t>Минусы: бесполезны против удалённых атак, требуют постоянных затрат на охрану и оборудование.</a:t>
            </a:r>
          </a:p>
          <a:p>
            <a:pPr marL="0" indent="541338">
              <a:buNone/>
            </a:pP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189354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ru-RU" sz="2400" b="1" dirty="0"/>
              <a:t>Технические меры </a:t>
            </a:r>
            <a:r>
              <a:rPr lang="ru-RU" sz="2400" b="1" dirty="0" smtClean="0"/>
              <a:t>защиты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1600200"/>
            <a:ext cx="7128792" cy="4525963"/>
          </a:xfrm>
        </p:spPr>
        <p:txBody>
          <a:bodyPr>
            <a:normAutofit/>
          </a:bodyPr>
          <a:lstStyle/>
          <a:p>
            <a:pPr marL="0" indent="541338">
              <a:buNone/>
            </a:pPr>
            <a:r>
              <a:rPr lang="ru-RU" sz="1600" dirty="0" smtClean="0"/>
              <a:t>В них входят меры:</a:t>
            </a:r>
          </a:p>
          <a:p>
            <a:pPr marL="541338" indent="0">
              <a:buNone/>
            </a:pPr>
            <a:r>
              <a:rPr lang="ru-RU" sz="1600" dirty="0"/>
              <a:t>–	</a:t>
            </a:r>
            <a:r>
              <a:rPr lang="ru-RU" sz="1600" b="1" dirty="0"/>
              <a:t>а</a:t>
            </a:r>
            <a:r>
              <a:rPr lang="ru-RU" sz="1600" b="1" dirty="0" smtClean="0"/>
              <a:t>ппаратные меры защиты </a:t>
            </a:r>
            <a:r>
              <a:rPr lang="ru-RU" sz="1600" dirty="0" smtClean="0"/>
              <a:t>реализуются с помощью специализированных электронных и электромеханических устройств, интегрируемых в информационную систему или подключаемых к ней. Обеспечивают защиту на уровне обработки, передачи и хранения данных — контролируют доступ, шифруют информацию, выявляют аномалии в работе системы;</a:t>
            </a:r>
          </a:p>
          <a:p>
            <a:pPr marL="541338" indent="0">
              <a:buNone/>
            </a:pPr>
            <a:r>
              <a:rPr lang="ru-RU" sz="1600" dirty="0"/>
              <a:t>–	</a:t>
            </a:r>
            <a:r>
              <a:rPr lang="ru-RU" sz="1600" b="1" dirty="0" smtClean="0"/>
              <a:t>Программные </a:t>
            </a:r>
            <a:r>
              <a:rPr lang="ru-RU" sz="1600" b="1" dirty="0"/>
              <a:t>меры защиты </a:t>
            </a:r>
            <a:r>
              <a:rPr lang="ru-RU" sz="1600" dirty="0"/>
              <a:t>представляют собой программное обеспечение, специально предназначенное для выполнения функций защиты информации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0" indent="541338">
              <a:buNone/>
            </a:pPr>
            <a:endParaRPr lang="ru-RU" sz="1700" dirty="0" smtClean="0"/>
          </a:p>
          <a:p>
            <a:pPr marL="0" indent="541338">
              <a:buNone/>
            </a:pPr>
            <a:r>
              <a:rPr lang="ru-RU" sz="1700" dirty="0" smtClean="0"/>
              <a:t>Плюсы</a:t>
            </a:r>
            <a:r>
              <a:rPr lang="ru-RU" sz="1700" dirty="0"/>
              <a:t>: мгновенная реакция на угрозы, надёжная защита данных </a:t>
            </a:r>
            <a:endParaRPr lang="en-US" sz="1700" dirty="0"/>
          </a:p>
          <a:p>
            <a:pPr marL="0" indent="541338">
              <a:buNone/>
            </a:pPr>
            <a:r>
              <a:rPr lang="ru-RU" sz="1700" dirty="0"/>
              <a:t>(шифрование), фиксация аномалий в работе системы.</a:t>
            </a:r>
          </a:p>
          <a:p>
            <a:pPr marL="0" indent="541338">
              <a:buNone/>
            </a:pPr>
            <a:r>
              <a:rPr lang="ru-RU" sz="1700" dirty="0"/>
              <a:t>Минусы: скрытые уязвимости и ошибки в коде, потребление </a:t>
            </a:r>
            <a:endParaRPr lang="en-US" sz="1700" dirty="0"/>
          </a:p>
          <a:p>
            <a:pPr marL="0" indent="541338">
              <a:buNone/>
            </a:pPr>
            <a:r>
              <a:rPr lang="ru-RU" sz="1700" dirty="0"/>
              <a:t>вычислительных ресурсов, затраты на обновление лицензий.</a:t>
            </a:r>
          </a:p>
          <a:p>
            <a:pPr marL="0" indent="541338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648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701824"/>
            <a:ext cx="8229600" cy="114300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Взаимосвязь мер обеспечения информационной безопасности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348880"/>
            <a:ext cx="6285780" cy="2326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671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701824"/>
            <a:ext cx="7848872" cy="1143000"/>
          </a:xfrm>
        </p:spPr>
        <p:txBody>
          <a:bodyPr>
            <a:normAutofit fontScale="90000"/>
          </a:bodyPr>
          <a:lstStyle/>
          <a:p>
            <a:r>
              <a:rPr lang="ru-RU" sz="2400" b="1" dirty="0"/>
              <a:t>Принципы построения системы обеспечения безопасности информации в автоматизированной системе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1772817"/>
            <a:ext cx="7128792" cy="936104"/>
          </a:xfrm>
        </p:spPr>
        <p:txBody>
          <a:bodyPr>
            <a:normAutofit/>
          </a:bodyPr>
          <a:lstStyle/>
          <a:p>
            <a:pPr marL="0" indent="541338">
              <a:buNone/>
            </a:pPr>
            <a:r>
              <a:rPr lang="ru-RU" sz="1600" dirty="0"/>
              <a:t>Построение системы обеспечения безопасности информации в АС и ее функционирование осуществляют в соответствии со следующими принципами: </a:t>
            </a:r>
          </a:p>
          <a:p>
            <a:pPr marL="0" indent="541338">
              <a:buNone/>
            </a:pP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52019" y="2510894"/>
            <a:ext cx="395852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09625" indent="-285750">
              <a:buFont typeface="Calibri" pitchFamily="34" charset="0"/>
              <a:buChar char="–"/>
            </a:pPr>
            <a:r>
              <a:rPr lang="ru-RU" sz="1600" dirty="0" smtClean="0"/>
              <a:t>законность; </a:t>
            </a:r>
          </a:p>
          <a:p>
            <a:pPr marL="809625" indent="-285750">
              <a:buFont typeface="Calibri" pitchFamily="34" charset="0"/>
              <a:buChar char="–"/>
            </a:pPr>
            <a:r>
              <a:rPr lang="ru-RU" sz="1600" dirty="0" smtClean="0"/>
              <a:t>системность; </a:t>
            </a:r>
          </a:p>
          <a:p>
            <a:pPr marL="809625" indent="-285750">
              <a:buFont typeface="Calibri" pitchFamily="34" charset="0"/>
              <a:buChar char="–"/>
            </a:pPr>
            <a:r>
              <a:rPr lang="ru-RU" sz="1600" dirty="0" smtClean="0"/>
              <a:t>комплексность; </a:t>
            </a:r>
          </a:p>
          <a:p>
            <a:pPr marL="809625" indent="-285750">
              <a:buFont typeface="Calibri" pitchFamily="34" charset="0"/>
              <a:buChar char="–"/>
            </a:pPr>
            <a:r>
              <a:rPr lang="ru-RU" sz="1600" dirty="0" smtClean="0"/>
              <a:t>своевременность; </a:t>
            </a:r>
          </a:p>
          <a:p>
            <a:pPr marL="809625" indent="-285750">
              <a:buFont typeface="Calibri" pitchFamily="34" charset="0"/>
              <a:buChar char="–"/>
            </a:pPr>
            <a:r>
              <a:rPr lang="ru-RU" sz="1600" dirty="0" smtClean="0"/>
              <a:t>непрерывность;</a:t>
            </a:r>
          </a:p>
          <a:p>
            <a:pPr marL="809625" indent="-285750">
              <a:buFont typeface="Calibri" pitchFamily="34" charset="0"/>
              <a:buChar char="–"/>
            </a:pPr>
            <a:r>
              <a:rPr lang="ru-RU" sz="1600" dirty="0" smtClean="0"/>
              <a:t>преемственность и непрерывное </a:t>
            </a:r>
          </a:p>
          <a:p>
            <a:pPr marL="809625" indent="-285750">
              <a:buFont typeface="Calibri" pitchFamily="34" charset="0"/>
              <a:buChar char="–"/>
            </a:pPr>
            <a:r>
              <a:rPr lang="ru-RU" sz="1600" dirty="0" smtClean="0"/>
              <a:t>совершенствование; </a:t>
            </a:r>
          </a:p>
          <a:p>
            <a:pPr marL="809625" indent="-285750">
              <a:buFont typeface="Calibri" pitchFamily="34" charset="0"/>
              <a:buChar char="–"/>
            </a:pPr>
            <a:r>
              <a:rPr lang="ru-RU" sz="1600" dirty="0" smtClean="0"/>
              <a:t>разделение функций; </a:t>
            </a:r>
          </a:p>
          <a:p>
            <a:pPr marL="809625" indent="-285750">
              <a:buFont typeface="Calibri" pitchFamily="34" charset="0"/>
              <a:buChar char="–"/>
            </a:pPr>
            <a:r>
              <a:rPr lang="ru-RU" sz="1600" dirty="0" smtClean="0"/>
              <a:t>разумная достаточность; </a:t>
            </a:r>
          </a:p>
          <a:p>
            <a:pPr marL="809625" indent="-285750">
              <a:buFont typeface="Calibri" pitchFamily="34" charset="0"/>
              <a:buChar char="–"/>
            </a:pPr>
            <a:r>
              <a:rPr lang="ru-RU" sz="1600" dirty="0" smtClean="0"/>
              <a:t>персональная ответственность;</a:t>
            </a:r>
            <a:r>
              <a:rPr lang="ru-RU" dirty="0" smtClean="0"/>
              <a:t> </a:t>
            </a:r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923928" y="2511474"/>
            <a:ext cx="4351897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14375" indent="-285750">
              <a:buFont typeface="Calibri" pitchFamily="34" charset="0"/>
              <a:buChar char="–"/>
            </a:pPr>
            <a:r>
              <a:rPr lang="ru-RU" sz="1600" dirty="0" smtClean="0"/>
              <a:t>минимизация полномочий; </a:t>
            </a:r>
          </a:p>
          <a:p>
            <a:pPr marL="714375" indent="-285750">
              <a:buFont typeface="Calibri" pitchFamily="34" charset="0"/>
              <a:buChar char="–"/>
            </a:pPr>
            <a:r>
              <a:rPr lang="ru-RU" sz="1600" dirty="0" smtClean="0"/>
              <a:t>взаимодействие и сотрудничество; </a:t>
            </a:r>
          </a:p>
          <a:p>
            <a:pPr marL="714375" indent="-285750">
              <a:buFont typeface="Calibri" pitchFamily="34" charset="0"/>
              <a:buChar char="–"/>
            </a:pPr>
            <a:r>
              <a:rPr lang="ru-RU" sz="1600" dirty="0" smtClean="0"/>
              <a:t>гибкость системы защиты; </a:t>
            </a:r>
          </a:p>
          <a:p>
            <a:pPr marL="714375" indent="-285750">
              <a:buFont typeface="Calibri" pitchFamily="34" charset="0"/>
              <a:buChar char="–"/>
            </a:pPr>
            <a:r>
              <a:rPr lang="ru-RU" sz="1600" dirty="0" smtClean="0"/>
              <a:t>открытость алгоритмов и </a:t>
            </a:r>
          </a:p>
          <a:p>
            <a:pPr marL="714375" indent="-285750">
              <a:buFont typeface="Calibri" pitchFamily="34" charset="0"/>
              <a:buChar char="–"/>
            </a:pPr>
            <a:r>
              <a:rPr lang="ru-RU" sz="1600" dirty="0" smtClean="0"/>
              <a:t>механизмов защиты; </a:t>
            </a:r>
          </a:p>
          <a:p>
            <a:pPr marL="714375" indent="-285750">
              <a:buFont typeface="Calibri" pitchFamily="34" charset="0"/>
              <a:buChar char="–"/>
            </a:pPr>
            <a:r>
              <a:rPr lang="ru-RU" sz="1600" dirty="0" smtClean="0"/>
              <a:t>простота применения средств защиты; </a:t>
            </a:r>
          </a:p>
          <a:p>
            <a:pPr marL="714375" indent="-285750">
              <a:buFont typeface="Calibri" pitchFamily="34" charset="0"/>
              <a:buChar char="–"/>
            </a:pPr>
            <a:r>
              <a:rPr lang="ru-RU" sz="1600" dirty="0" smtClean="0"/>
              <a:t>научная обоснованность и </a:t>
            </a:r>
          </a:p>
          <a:p>
            <a:pPr marL="714375" indent="-285750">
              <a:buFont typeface="Calibri" pitchFamily="34" charset="0"/>
              <a:buChar char="–"/>
            </a:pPr>
            <a:r>
              <a:rPr lang="ru-RU" sz="1600" dirty="0" smtClean="0"/>
              <a:t>техническая реализуемость; </a:t>
            </a:r>
          </a:p>
          <a:p>
            <a:pPr marL="714375" indent="-285750">
              <a:buFont typeface="Calibri" pitchFamily="34" charset="0"/>
              <a:buChar char="–"/>
            </a:pPr>
            <a:r>
              <a:rPr lang="ru-RU" sz="1600" dirty="0" smtClean="0"/>
              <a:t>специализация и профессионализм; </a:t>
            </a:r>
          </a:p>
          <a:p>
            <a:pPr marL="714375" indent="-285750">
              <a:buFont typeface="Calibri" pitchFamily="34" charset="0"/>
              <a:buChar char="–"/>
            </a:pPr>
            <a:r>
              <a:rPr lang="ru-RU" sz="1600" dirty="0" smtClean="0"/>
              <a:t>взаимодействие и координация; </a:t>
            </a:r>
          </a:p>
          <a:p>
            <a:pPr marL="714375" indent="-285750">
              <a:buFont typeface="Calibri" pitchFamily="34" charset="0"/>
              <a:buChar char="–"/>
            </a:pPr>
            <a:r>
              <a:rPr lang="ru-RU" sz="1600" dirty="0" smtClean="0"/>
              <a:t>обязательность контроля.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74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Заключение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1600200"/>
            <a:ext cx="7128792" cy="4525963"/>
          </a:xfrm>
        </p:spPr>
        <p:txBody>
          <a:bodyPr>
            <a:normAutofit/>
          </a:bodyPr>
          <a:lstStyle/>
          <a:p>
            <a:pPr marL="0" indent="541338">
              <a:buNone/>
            </a:pPr>
            <a:r>
              <a:rPr lang="ru-RU" sz="1600" dirty="0" smtClean="0"/>
              <a:t>Таким образом, специалисты по информационной безопасности располагают широким спектром защитных мер — законодательных, морально‑этических, организационных, физических и технических. Их достоинства и недостатки нужно учитывать при создании систем защиты.</a:t>
            </a:r>
          </a:p>
          <a:p>
            <a:pPr marL="0" indent="541338">
              <a:buNone/>
            </a:pPr>
            <a:r>
              <a:rPr lang="ru-RU" sz="1600" dirty="0" smtClean="0"/>
              <a:t>Все каналы проникновения и утечки информации следует перекрывать с учётом анализа рисков и обоснованных затрат на защиту.</a:t>
            </a:r>
          </a:p>
          <a:p>
            <a:pPr marL="0" indent="541338">
              <a:buNone/>
            </a:pPr>
            <a:r>
              <a:rPr lang="ru-RU" sz="1600" dirty="0" smtClean="0"/>
              <a:t>Наилучшие результаты даёт системный подход и комплексное использование мер защиты на всех этапах жизненного цикла системы — начиная с её проектирования.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484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6856" y="2780928"/>
            <a:ext cx="8229600" cy="114300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8459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610</Words>
  <Application>Microsoft Office PowerPoint</Application>
  <PresentationFormat>Экран (4:3)</PresentationFormat>
  <Paragraphs>81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«Меры и основные принципы обеспечения безопасности автоматизированных систем» </vt:lpstr>
      <vt:lpstr>Презентация PowerPoint</vt:lpstr>
      <vt:lpstr>Презентация PowerPoint</vt:lpstr>
      <vt:lpstr>Презентация PowerPoint</vt:lpstr>
      <vt:lpstr>Презентация PowerPoint</vt:lpstr>
      <vt:lpstr>Законодательные (Правовые) меры </vt:lpstr>
      <vt:lpstr>Законодательные (Правовые) меры </vt:lpstr>
      <vt:lpstr>Морально-этические меры</vt:lpstr>
      <vt:lpstr>Организационные меры</vt:lpstr>
      <vt:lpstr>Технологические меры</vt:lpstr>
      <vt:lpstr>Физические меры</vt:lpstr>
      <vt:lpstr>Технические меры защиты</vt:lpstr>
      <vt:lpstr>Взаимосвязь мер обеспечения информационной безопасности</vt:lpstr>
      <vt:lpstr>Принципы построения системы обеспечения безопасности информации в автоматизированной системе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«Меры и основные принципы обеспечения безопасности автоматизированных систем»</dc:title>
  <dc:creator>Dana</dc:creator>
  <cp:lastModifiedBy>Dana</cp:lastModifiedBy>
  <cp:revision>11</cp:revision>
  <dcterms:created xsi:type="dcterms:W3CDTF">2026-05-19T04:28:22Z</dcterms:created>
  <dcterms:modified xsi:type="dcterms:W3CDTF">2026-05-19T06:43:00Z</dcterms:modified>
</cp:coreProperties>
</file>